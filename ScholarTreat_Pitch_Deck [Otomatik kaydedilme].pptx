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nton" pitchFamily="2" charset="-94"/>
      <p:regular r:id="rId8"/>
    </p:embeddedFont>
    <p:embeddedFont>
      <p:font typeface="Geo" panose="020B0604020202020204"/>
      <p:regular r:id="rId9"/>
      <p:italic r:id="rId10"/>
    </p:embeddedFont>
    <p:embeddedFont>
      <p:font typeface="Georgia" panose="02040502050405020303" pitchFamily="18" charset="0"/>
      <p:regular r:id="rId11"/>
      <p:bold r:id="rId12"/>
      <p:italic r:id="rId13"/>
      <p:boldItalic r:id="rId14"/>
    </p:embeddedFont>
    <p:embeddedFont>
      <p:font typeface="Oswald" panose="00000500000000000000" pitchFamily="2" charset="-94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60"/>
  </p:normalViewPr>
  <p:slideViewPr>
    <p:cSldViewPr snapToGrid="0">
      <p:cViewPr varScale="1">
        <p:scale>
          <a:sx n="31" d="100"/>
          <a:sy n="31" d="100"/>
        </p:scale>
        <p:origin x="50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75cbe08ac_7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3e75cbe08ac_7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75cbe08ac_7_4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e75cbe08ac_7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75cbe08ac_7_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e75cbe08ac_7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75cbe08ac_7_8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e75cbe08ac_7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2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2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marL="914400" lvl="1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marL="1371600" lvl="2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marL="1828800" lvl="3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marL="2286000" lvl="4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1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1"/>
          <p:cNvSpPr txBox="1"/>
          <p:nvPr/>
        </p:nvSpPr>
        <p:spPr>
          <a:xfrm>
            <a:off x="1047750" y="2428875"/>
            <a:ext cx="12858750" cy="12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392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1200"/>
              <a:buFont typeface="Anton"/>
              <a:buNone/>
            </a:pPr>
            <a:r>
              <a:rPr lang="en-US" sz="112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</a:t>
            </a:r>
            <a:endParaRPr/>
          </a:p>
        </p:txBody>
      </p:sp>
      <p:sp>
        <p:nvSpPr>
          <p:cNvPr id="52" name="Google Shape;52;p11"/>
          <p:cNvSpPr txBox="1"/>
          <p:nvPr/>
        </p:nvSpPr>
        <p:spPr>
          <a:xfrm>
            <a:off x="1047750" y="3629025"/>
            <a:ext cx="12858750" cy="12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392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1200"/>
              <a:buFont typeface="Anton"/>
              <a:buNone/>
            </a:pPr>
            <a:r>
              <a:rPr lang="en-US" sz="112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STELLAR</a:t>
            </a:r>
            <a:endParaRPr/>
          </a:p>
        </p:txBody>
      </p:sp>
      <p:sp>
        <p:nvSpPr>
          <p:cNvPr id="53" name="Google Shape;53;p11"/>
          <p:cNvSpPr txBox="1"/>
          <p:nvPr/>
        </p:nvSpPr>
        <p:spPr>
          <a:xfrm>
            <a:off x="1047750" y="4829175"/>
            <a:ext cx="128589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3928"/>
              </a:lnSpc>
              <a:spcBef>
                <a:spcPts val="0"/>
              </a:spcBef>
              <a:spcAft>
                <a:spcPts val="0"/>
              </a:spcAft>
              <a:buClr>
                <a:srgbClr val="DDA322"/>
              </a:buClr>
              <a:buSzPts val="11200"/>
              <a:buFont typeface="Anton"/>
              <a:buNone/>
            </a:pPr>
            <a:r>
              <a:rPr lang="en-US" sz="11200" b="0" i="0" u="none">
                <a:solidFill>
                  <a:srgbClr val="DDA322"/>
                </a:solidFill>
                <a:latin typeface="Anton"/>
                <a:ea typeface="Anton"/>
                <a:cs typeface="Anton"/>
                <a:sym typeface="Anton"/>
              </a:rPr>
              <a:t>HACKATHON</a:t>
            </a:r>
            <a:endParaRPr/>
          </a:p>
        </p:txBody>
      </p:sp>
      <p:sp>
        <p:nvSpPr>
          <p:cNvPr id="54" name="Google Shape;54;p11"/>
          <p:cNvSpPr txBox="1"/>
          <p:nvPr/>
        </p:nvSpPr>
        <p:spPr>
          <a:xfrm>
            <a:off x="1047750" y="6000750"/>
            <a:ext cx="12858750" cy="7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200"/>
              <a:buFont typeface="Oswald"/>
              <a:buNone/>
            </a:pPr>
            <a:r>
              <a:rPr lang="en-US" sz="2200" b="0" i="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Every era had its own tool.</a:t>
            </a:r>
            <a:endParaRPr/>
          </a:p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200"/>
              <a:buFont typeface="Oswald"/>
              <a:buNone/>
            </a:pPr>
            <a:r>
              <a:rPr lang="en-US" sz="2200" b="0" i="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The tool of this era: </a:t>
            </a:r>
            <a:r>
              <a:rPr lang="en-US" sz="2200" b="1" i="0" u="none">
                <a:solidFill>
                  <a:srgbClr val="B5861C"/>
                </a:solidFill>
                <a:latin typeface="Oswald"/>
                <a:ea typeface="Oswald"/>
                <a:cs typeface="Oswald"/>
                <a:sym typeface="Oswald"/>
              </a:rPr>
              <a:t>CODE.</a:t>
            </a:r>
            <a:endParaRPr/>
          </a:p>
        </p:txBody>
      </p:sp>
      <p:sp>
        <p:nvSpPr>
          <p:cNvPr id="55" name="Google Shape;55;p11"/>
          <p:cNvSpPr txBox="1"/>
          <p:nvPr/>
        </p:nvSpPr>
        <p:spPr>
          <a:xfrm>
            <a:off x="1047750" y="7324725"/>
            <a:ext cx="5013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19050" cap="sq" cmpd="sng">
            <a:solidFill>
              <a:srgbClr val="1A181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1"/>
          <p:cNvSpPr txBox="1"/>
          <p:nvPr/>
        </p:nvSpPr>
        <p:spPr>
          <a:xfrm>
            <a:off x="2703512" y="7343775"/>
            <a:ext cx="19050" cy="64770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1"/>
          <p:cNvSpPr txBox="1"/>
          <p:nvPr/>
        </p:nvSpPr>
        <p:spPr>
          <a:xfrm>
            <a:off x="1066850" y="7499850"/>
            <a:ext cx="165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Oswald"/>
              <a:buNone/>
            </a:pPr>
            <a:r>
              <a:rPr lang="en-US" sz="1800" b="1" i="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ISTANBUL</a:t>
            </a:r>
            <a:endParaRPr/>
          </a:p>
        </p:txBody>
      </p:sp>
      <p:sp>
        <p:nvSpPr>
          <p:cNvPr id="58" name="Google Shape;58;p11"/>
          <p:cNvSpPr txBox="1"/>
          <p:nvPr/>
        </p:nvSpPr>
        <p:spPr>
          <a:xfrm>
            <a:off x="4327525" y="7343775"/>
            <a:ext cx="19050" cy="64770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1"/>
          <p:cNvSpPr txBox="1"/>
          <p:nvPr/>
        </p:nvSpPr>
        <p:spPr>
          <a:xfrm>
            <a:off x="2713012" y="7499850"/>
            <a:ext cx="1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Oswald"/>
              <a:buNone/>
            </a:pPr>
            <a:r>
              <a:rPr lang="en-US" sz="1800" b="1" i="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JUNE 2–3</a:t>
            </a:r>
            <a:endParaRPr/>
          </a:p>
        </p:txBody>
      </p:sp>
      <p:sp>
        <p:nvSpPr>
          <p:cNvPr id="60" name="Google Shape;60;p11"/>
          <p:cNvSpPr txBox="1"/>
          <p:nvPr/>
        </p:nvSpPr>
        <p:spPr>
          <a:xfrm>
            <a:off x="4327525" y="7485263"/>
            <a:ext cx="1695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Oswald"/>
              <a:buNone/>
            </a:pPr>
            <a:r>
              <a:rPr lang="en-US" sz="1800" b="1" i="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48 HOURS</a:t>
            </a:r>
            <a:endParaRPr/>
          </a:p>
        </p:txBody>
      </p:sp>
      <p:sp>
        <p:nvSpPr>
          <p:cNvPr id="61" name="Google Shape;61;p11"/>
          <p:cNvSpPr txBox="1"/>
          <p:nvPr/>
        </p:nvSpPr>
        <p:spPr>
          <a:xfrm>
            <a:off x="14612937" y="4610100"/>
            <a:ext cx="2397125" cy="1016000"/>
          </a:xfrm>
          <a:prstGeom prst="rect">
            <a:avLst/>
          </a:prstGeom>
          <a:solidFill>
            <a:srgbClr val="EDE8DC"/>
          </a:solidFill>
          <a:ln w="28575" cap="sq" cmpd="sng">
            <a:solidFill>
              <a:srgbClr val="1A181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1"/>
          <p:cNvSpPr txBox="1"/>
          <p:nvPr/>
        </p:nvSpPr>
        <p:spPr>
          <a:xfrm>
            <a:off x="14889162" y="4724400"/>
            <a:ext cx="184467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200"/>
              <a:buFont typeface="Oswald"/>
              <a:buNone/>
            </a:pPr>
            <a:r>
              <a:rPr lang="en-US" sz="1200" b="1" i="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NO HELMET · NO ENTRY</a:t>
            </a:r>
            <a:endParaRPr/>
          </a:p>
        </p:txBody>
      </p:sp>
      <p:sp>
        <p:nvSpPr>
          <p:cNvPr id="63" name="Google Shape;63;p11"/>
          <p:cNvSpPr txBox="1"/>
          <p:nvPr/>
        </p:nvSpPr>
        <p:spPr>
          <a:xfrm>
            <a:off x="14889162" y="5032375"/>
            <a:ext cx="1844675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5861C"/>
              </a:buClr>
              <a:buSzPts val="1200"/>
              <a:buFont typeface="Oswald"/>
              <a:buNone/>
            </a:pPr>
            <a:r>
              <a:rPr lang="en-US" sz="1200" b="1" i="0" u="none">
                <a:solidFill>
                  <a:srgbClr val="B5861C"/>
                </a:solidFill>
                <a:latin typeface="Oswald"/>
                <a:ea typeface="Oswald"/>
                <a:cs typeface="Oswald"/>
                <a:sym typeface="Oswald"/>
              </a:rPr>
              <a:t>NO CODE · NO EXIT</a:t>
            </a:r>
            <a:endParaRPr/>
          </a:p>
        </p:txBody>
      </p:sp>
      <p:sp>
        <p:nvSpPr>
          <p:cNvPr id="64" name="Google Shape;64;p11"/>
          <p:cNvSpPr txBox="1"/>
          <p:nvPr/>
        </p:nvSpPr>
        <p:spPr>
          <a:xfrm>
            <a:off x="1047750" y="9639300"/>
            <a:ext cx="5079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300"/>
              <a:buFont typeface="Oswald"/>
              <a:buNone/>
            </a:pPr>
            <a:r>
              <a:rPr lang="en-US" sz="1300" b="1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1300" b="1" i="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2026</a:t>
            </a:r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12074525" y="9610725"/>
            <a:ext cx="5165725" cy="449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300"/>
              <a:buFont typeface="Geo"/>
              <a:buNone/>
            </a:pPr>
            <a:r>
              <a:rPr lang="en-US" sz="1300" b="0" i="1" u="none">
                <a:solidFill>
                  <a:srgbClr val="3A352E"/>
                </a:solidFill>
                <a:latin typeface="Geo"/>
                <a:ea typeface="Geo"/>
                <a:cs typeface="Geo"/>
                <a:sym typeface="Geo"/>
              </a:rPr>
              <a:t>Confidential • All rights reserved © 2026 Stellar Development Foundation</a:t>
            </a:r>
            <a:endParaRPr/>
          </a:p>
        </p:txBody>
      </p:sp>
      <p:sp>
        <p:nvSpPr>
          <p:cNvPr id="66" name="Google Shape;66;p11"/>
          <p:cNvSpPr txBox="1"/>
          <p:nvPr/>
        </p:nvSpPr>
        <p:spPr>
          <a:xfrm>
            <a:off x="7537450" y="609600"/>
            <a:ext cx="887412" cy="762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8805862" y="704850"/>
            <a:ext cx="19050" cy="571500"/>
          </a:xfrm>
          <a:prstGeom prst="rect">
            <a:avLst/>
          </a:prstGeom>
          <a:solidFill>
            <a:srgbClr val="1A1815">
              <a:alpha val="29803"/>
            </a:srgbClr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1"/>
          <p:cNvSpPr txBox="1"/>
          <p:nvPr/>
        </p:nvSpPr>
        <p:spPr>
          <a:xfrm>
            <a:off x="9205912" y="752475"/>
            <a:ext cx="1544637" cy="47625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1"/>
          <p:cNvSpPr txBox="1"/>
          <p:nvPr/>
        </p:nvSpPr>
        <p:spPr>
          <a:xfrm rot="2700000">
            <a:off x="14859000" y="2266950"/>
            <a:ext cx="1905000" cy="1905000"/>
          </a:xfrm>
          <a:prstGeom prst="rect">
            <a:avLst/>
          </a:prstGeom>
          <a:solidFill>
            <a:srgbClr val="DDA322"/>
          </a:solidFill>
          <a:ln w="47625" cap="sq" cmpd="sng">
            <a:solidFill>
              <a:srgbClr val="1A181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1"/>
          <p:cNvSpPr txBox="1"/>
          <p:nvPr/>
        </p:nvSpPr>
        <p:spPr>
          <a:xfrm>
            <a:off x="15268575" y="3143250"/>
            <a:ext cx="1085850" cy="89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4000"/>
              <a:buFont typeface="Anton"/>
              <a:buNone/>
            </a:pPr>
            <a:r>
              <a:rPr lang="en-US" sz="40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</a:t>
            </a:r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14400" y="3909060"/>
            <a:ext cx="11887200" cy="226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ScholarTreat</a:t>
            </a:r>
          </a:p>
          <a:p>
            <a:r>
              <a:rPr lang="en-US" sz="1800" dirty="0">
                <a:solidFill>
                  <a:srgbClr val="BBBBFF"/>
                </a:solidFill>
              </a:rPr>
              <a:t>AI-Powered Micro-Scholarships on Stellar</a:t>
            </a:r>
          </a:p>
          <a:p>
            <a:endParaRPr lang="en-US" sz="1800" dirty="0">
              <a:solidFill>
                <a:srgbClr val="BBBBFF"/>
              </a:solidFill>
            </a:endParaRPr>
          </a:p>
          <a:p>
            <a:r>
              <a:rPr lang="en-US" sz="1300" dirty="0">
                <a:solidFill>
                  <a:srgbClr val="AAAAAA"/>
                </a:solidFill>
              </a:rPr>
              <a:t>Main Track  +  Agentic Side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2"/>
          <p:cNvSpPr txBox="1"/>
          <p:nvPr/>
        </p:nvSpPr>
        <p:spPr>
          <a:xfrm>
            <a:off x="176981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2"/>
          <p:cNvSpPr txBox="1"/>
          <p:nvPr/>
        </p:nvSpPr>
        <p:spPr>
          <a:xfrm>
            <a:off x="1047750" y="2405062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lang="en-US" sz="3000" b="0" i="0" u="none" dirty="0" err="1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ScholarTreat</a:t>
            </a:r>
            <a:r>
              <a:rPr lang="en-US" sz="30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 is an AI-powered micro-sponsorship platform on Stellar. Sponsors post small financial rewards (coffee, textbooks, subscriptions) or mini-scholarships. Students with .</a:t>
            </a:r>
            <a:r>
              <a:rPr lang="en-US" sz="3000" b="0" i="0" u="none" dirty="0" err="1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edu</a:t>
            </a:r>
            <a:r>
              <a:rPr lang="en-US" sz="30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 emails apply. A Gemini AI agent ranks applicants by the sponsor's natural language command. Payment is sent instantly via Stellar USDC — no intermediaries, no paperwork.</a:t>
            </a:r>
            <a:endParaRPr dirty="0"/>
          </a:p>
        </p:txBody>
      </p:sp>
      <p:sp>
        <p:nvSpPr>
          <p:cNvPr id="78" name="Google Shape;78;p12"/>
          <p:cNvSpPr txBox="1"/>
          <p:nvPr/>
        </p:nvSpPr>
        <p:spPr>
          <a:xfrm>
            <a:off x="11334750" y="2348570"/>
            <a:ext cx="8543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i="1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One command. Real on-chain USDC. Verified students. AI-selected recipients.</a:t>
            </a:r>
            <a:endParaRPr i="1" dirty="0"/>
          </a:p>
        </p:txBody>
      </p:sp>
      <p:grpSp>
        <p:nvGrpSpPr>
          <p:cNvPr id="79" name="Google Shape;79;p12"/>
          <p:cNvGrpSpPr/>
          <p:nvPr/>
        </p:nvGrpSpPr>
        <p:grpSpPr>
          <a:xfrm>
            <a:off x="1047750" y="9154749"/>
            <a:ext cx="1227138" cy="495300"/>
            <a:chOff x="0" y="0"/>
            <a:chExt cx="1226534" cy="495300"/>
          </a:xfrm>
        </p:grpSpPr>
        <p:sp>
          <p:nvSpPr>
            <p:cNvPr id="80" name="Google Shape;80;p12"/>
            <p:cNvSpPr txBox="1"/>
            <p:nvPr/>
          </p:nvSpPr>
          <p:spPr>
            <a:xfrm>
              <a:off x="0" y="0"/>
              <a:ext cx="1226534" cy="495300"/>
            </a:xfrm>
            <a:prstGeom prst="rect">
              <a:avLst/>
            </a:prstGeom>
            <a:solidFill>
              <a:srgbClr val="1A1815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2"/>
            <p:cNvSpPr txBox="1"/>
            <p:nvPr/>
          </p:nvSpPr>
          <p:spPr>
            <a:xfrm>
              <a:off x="0" y="10926"/>
              <a:ext cx="12264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00" tIns="88900" rIns="88900" bIns="88900" anchor="b" anchorCtr="0">
              <a:spAutoFit/>
            </a:bodyPr>
            <a:lstStyle/>
            <a:p>
              <a:pPr marL="0" marR="0" lvl="0" indent="0" algn="l" rtl="0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DDA322"/>
                </a:buClr>
                <a:buSzPts val="1800"/>
                <a:buFont typeface="Oswald"/>
                <a:buNone/>
              </a:pPr>
              <a:r>
                <a:rPr lang="en-US" sz="1800" b="1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     </a:t>
              </a:r>
              <a:r>
                <a:rPr lang="en-US" sz="1800" b="1" i="0" u="none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Think</a:t>
              </a:r>
              <a:endParaRPr/>
            </a:p>
          </p:txBody>
        </p:sp>
      </p:grpSp>
      <p:sp>
        <p:nvSpPr>
          <p:cNvPr id="82" name="Google Shape;82;p12"/>
          <p:cNvSpPr txBox="1"/>
          <p:nvPr/>
        </p:nvSpPr>
        <p:spPr>
          <a:xfrm>
            <a:off x="10506725" y="3194050"/>
            <a:ext cx="7459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r>
              <a:rPr lang="en-US" sz="2500" i="1" u="none" dirty="0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Traditional scholarships are slow, bureaucratic, and inaccessible. </a:t>
            </a:r>
            <a:r>
              <a:rPr lang="en-US" sz="2500" i="1" u="none" dirty="0" err="1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ScholarTreat</a:t>
            </a:r>
            <a:r>
              <a:rPr lang="en-US" sz="2500" i="1" u="none" dirty="0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 removes all friction: sponsors fund in 30 seconds, students receive crypto instantly, AI handles the matching autonomously.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3" name="Google Shape;83;p12"/>
          <p:cNvSpPr txBox="1"/>
          <p:nvPr/>
        </p:nvSpPr>
        <p:spPr>
          <a:xfrm>
            <a:off x="762000" y="971550"/>
            <a:ext cx="11239500" cy="14668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2"/>
          <p:cNvSpPr txBox="1"/>
          <p:nvPr/>
        </p:nvSpPr>
        <p:spPr>
          <a:xfrm rot="2700000">
            <a:off x="1104900" y="3351212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2"/>
          <p:cNvSpPr txBox="1"/>
          <p:nvPr/>
        </p:nvSpPr>
        <p:spPr>
          <a:xfrm rot="2700000">
            <a:off x="1104900" y="3981450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2"/>
          <p:cNvSpPr txBox="1"/>
          <p:nvPr/>
        </p:nvSpPr>
        <p:spPr>
          <a:xfrm rot="2700000">
            <a:off x="1104900" y="4611687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lang="en-US" sz="18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88" name="Google Shape;88;p12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lang="en-US" sz="800" b="1" i="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89" name="Google Shape;89;p12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2"/>
          <p:cNvSpPr txBox="1"/>
          <p:nvPr/>
        </p:nvSpPr>
        <p:spPr>
          <a:xfrm>
            <a:off x="1047750" y="1200150"/>
            <a:ext cx="5964237" cy="19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8800"/>
              <a:buFont typeface="Anton"/>
              <a:buNone/>
            </a:pPr>
            <a:r>
              <a:rPr lang="en-US" sz="88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THE SOLUTION</a:t>
            </a:r>
            <a:endParaRPr/>
          </a:p>
        </p:txBody>
      </p:sp>
      <p:sp>
        <p:nvSpPr>
          <p:cNvPr id="91" name="Google Shape;91;p12"/>
          <p:cNvSpPr txBox="1"/>
          <p:nvPr/>
        </p:nvSpPr>
        <p:spPr>
          <a:xfrm>
            <a:off x="1447800" y="7800798"/>
            <a:ext cx="11239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0" i="1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Autonomous AI agent — no manual per-TX approval
Real USDC on Stellar </a:t>
            </a:r>
            <a:r>
              <a:rPr lang="en-US" sz="2500" b="0" i="1" u="none" dirty="0" err="1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testnet</a:t>
            </a:r>
            <a:r>
              <a:rPr lang="en-US" sz="2500" b="0" i="1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 (DEX auto-swap included)
Natural language commands: 'Pick the most motivated student from Turkey'</a:t>
            </a:r>
            <a:endParaRPr i="1" dirty="0"/>
          </a:p>
        </p:txBody>
      </p:sp>
      <p:sp>
        <p:nvSpPr>
          <p:cNvPr id="92" name="Google Shape;92;p12"/>
          <p:cNvSpPr txBox="1"/>
          <p:nvPr/>
        </p:nvSpPr>
        <p:spPr>
          <a:xfrm>
            <a:off x="11334750" y="6315093"/>
            <a:ext cx="4934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0" i="1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Sponsor types a command. Agent ranks. Payment flows. Done.</a:t>
            </a:r>
            <a:endParaRPr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047750" y="2590812"/>
            <a:ext cx="10287000" cy="1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lang="en-US" sz="3000" b="0" i="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200M+ university students worldwide face a micro-funding gap. They need small amounts ($10-$200) for tools, courses, or just coffee to stay productive. Traditional scholarships require months of paperwork and pay out thousands. Meanwhile, companies want to support students but lack a simple, transparent, verifiable way to do it.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1428750" y="3644900"/>
            <a:ext cx="11239500" cy="40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0" i="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The gap between 'I want to help a student' and 'student receives money' is too wide.</a:t>
            </a:r>
            <a:endParaRPr/>
          </a:p>
        </p:txBody>
      </p:sp>
      <p:grpSp>
        <p:nvGrpSpPr>
          <p:cNvPr id="101" name="Google Shape;101;p13"/>
          <p:cNvGrpSpPr/>
          <p:nvPr/>
        </p:nvGrpSpPr>
        <p:grpSpPr>
          <a:xfrm>
            <a:off x="1047750" y="5756275"/>
            <a:ext cx="1227138" cy="495300"/>
            <a:chOff x="0" y="0"/>
            <a:chExt cx="1226534" cy="495300"/>
          </a:xfrm>
        </p:grpSpPr>
        <p:sp>
          <p:nvSpPr>
            <p:cNvPr id="102" name="Google Shape;102;p13"/>
            <p:cNvSpPr txBox="1"/>
            <p:nvPr/>
          </p:nvSpPr>
          <p:spPr>
            <a:xfrm>
              <a:off x="0" y="0"/>
              <a:ext cx="1226534" cy="495300"/>
            </a:xfrm>
            <a:prstGeom prst="rect">
              <a:avLst/>
            </a:prstGeom>
            <a:solidFill>
              <a:srgbClr val="1A1815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3"/>
            <p:cNvSpPr txBox="1"/>
            <p:nvPr/>
          </p:nvSpPr>
          <p:spPr>
            <a:xfrm>
              <a:off x="0" y="10926"/>
              <a:ext cx="12264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00" tIns="88900" rIns="88900" bIns="88900" anchor="b" anchorCtr="0">
              <a:spAutoFit/>
            </a:bodyPr>
            <a:lstStyle/>
            <a:p>
              <a:pPr marL="0" marR="0" lvl="0" indent="0" algn="l" rtl="0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DDA322"/>
                </a:buClr>
                <a:buSzPts val="1800"/>
                <a:buFont typeface="Oswald"/>
                <a:buNone/>
              </a:pPr>
              <a:r>
                <a:rPr lang="en-US" sz="1800" b="1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    </a:t>
              </a:r>
              <a:r>
                <a:rPr lang="en-US" sz="1800" b="1" i="0" u="none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Think</a:t>
              </a:r>
              <a:endParaRPr/>
            </a:p>
          </p:txBody>
        </p:sp>
      </p:grpSp>
      <p:sp>
        <p:nvSpPr>
          <p:cNvPr id="104" name="Google Shape;104;p13"/>
          <p:cNvSpPr txBox="1"/>
          <p:nvPr/>
        </p:nvSpPr>
        <p:spPr>
          <a:xfrm>
            <a:off x="2446321" y="5811475"/>
            <a:ext cx="7713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r>
              <a:rPr lang="en-US" sz="2500" i="1" u="none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Market: $7B+ global scholarship market — dominated by slow bureaucratic players
Students: 1 in 3 students face financial stress over small costs
Sponsors: Companies spend $50K+ on CSR but lack student-reach infrastructure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762000" y="990600"/>
            <a:ext cx="5334000" cy="14287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 rot="2700000">
            <a:off x="1104900" y="3802062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 rot="2700000">
            <a:off x="1104900" y="4851400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lang="en-US" sz="18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lang="en-US" sz="800" b="1" i="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1047750" y="1200150"/>
            <a:ext cx="2098675" cy="19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8800"/>
              <a:buFont typeface="Anton"/>
              <a:buNone/>
            </a:pPr>
            <a:r>
              <a:rPr lang="en-US" sz="88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PMF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1428750" y="4697412"/>
            <a:ext cx="11239500" cy="40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0" i="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A student in Istanbul needs $15 for a Coursera certificate. No credit card, no bank access — but she has a .edu email. ScholarTreat solves this in 3 minutes, on-chain, with zero paperwork.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1047750" y="3440112"/>
            <a:ext cx="10287000" cy="88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lang="en-US" sz="3000" b="0" i="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1. SPONSOR ONBOARDS: Register, Stellar wallet auto-created, XLM auto-swapped to USDC via Stellar DEX
2. STUDENT APPLIES: .edu email verified, wallet created, browses offers, applies
3. AI AGENT RANKS: Sponsor types natural command, Gemini AI scores and ranks all applicants
4. PAYMENT FIRES: Server fetches keys, sets trustlines, sends real USDC on Stellar — TX hash returned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455737" y="4681537"/>
            <a:ext cx="7448550" cy="40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0" i="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Every step is autonomous. Agent handles trustlines, DEX swaps, and payments without manual intervention.</a:t>
            </a:r>
            <a:endParaRPr/>
          </a:p>
        </p:txBody>
      </p:sp>
      <p:grpSp>
        <p:nvGrpSpPr>
          <p:cNvPr id="121" name="Google Shape;121;p14"/>
          <p:cNvGrpSpPr/>
          <p:nvPr/>
        </p:nvGrpSpPr>
        <p:grpSpPr>
          <a:xfrm>
            <a:off x="1047750" y="6372225"/>
            <a:ext cx="1227138" cy="495300"/>
            <a:chOff x="0" y="0"/>
            <a:chExt cx="1226534" cy="495300"/>
          </a:xfrm>
        </p:grpSpPr>
        <p:sp>
          <p:nvSpPr>
            <p:cNvPr id="122" name="Google Shape;122;p14"/>
            <p:cNvSpPr txBox="1"/>
            <p:nvPr/>
          </p:nvSpPr>
          <p:spPr>
            <a:xfrm>
              <a:off x="0" y="0"/>
              <a:ext cx="1226534" cy="495300"/>
            </a:xfrm>
            <a:prstGeom prst="rect">
              <a:avLst/>
            </a:prstGeom>
            <a:solidFill>
              <a:srgbClr val="1A1815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4"/>
            <p:cNvSpPr txBox="1"/>
            <p:nvPr/>
          </p:nvSpPr>
          <p:spPr>
            <a:xfrm>
              <a:off x="0" y="10926"/>
              <a:ext cx="12264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00" tIns="88900" rIns="88900" bIns="88900" anchor="b" anchorCtr="0">
              <a:spAutoFit/>
            </a:bodyPr>
            <a:lstStyle/>
            <a:p>
              <a:pPr marL="0" marR="0" lvl="0" indent="0" algn="l" rtl="0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DDA322"/>
                </a:buClr>
                <a:buSzPts val="1800"/>
                <a:buFont typeface="Oswald"/>
                <a:buNone/>
              </a:pPr>
              <a:r>
                <a:rPr lang="en-US" sz="1800" b="1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    </a:t>
              </a:r>
              <a:r>
                <a:rPr lang="en-US" sz="1800" b="1" i="0" u="none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Think</a:t>
              </a:r>
              <a:endParaRPr/>
            </a:p>
          </p:txBody>
        </p:sp>
      </p:grpSp>
      <p:sp>
        <p:nvSpPr>
          <p:cNvPr id="124" name="Google Shape;124;p14"/>
          <p:cNvSpPr txBox="1"/>
          <p:nvPr/>
        </p:nvSpPr>
        <p:spPr>
          <a:xfrm>
            <a:off x="2446322" y="6315075"/>
            <a:ext cx="9165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r>
              <a:rPr lang="en-US" sz="2500" i="1" u="none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Stellar SDK: wallet generation, USDC payment, DEX pathPaymentStrictReceive
Gemini 2.5 Flash Lite: AI applicant ranking by natural language command
Circle USDC testnet: real stablecoin, auto-funded via Stellar DEX swap
Firebase Firestore: student/sponsor/offer data  |  Next.js 16: full-stack app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762000" y="952500"/>
            <a:ext cx="11049000" cy="19621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 rot="2700000">
            <a:off x="1104900" y="4837112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 rot="2700000">
            <a:off x="1104900" y="5467350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lang="en-US" sz="18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lang="en-US" sz="800" b="1" i="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1047750" y="1190625"/>
            <a:ext cx="3698875" cy="155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5507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6900"/>
              <a:buFont typeface="Anton"/>
              <a:buNone/>
            </a:pPr>
            <a:r>
              <a:rPr lang="en-US" sz="69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TECHNICAL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1047750" y="1944687"/>
            <a:ext cx="3698875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5507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6900"/>
              <a:buFont typeface="Anton"/>
              <a:buNone/>
            </a:pPr>
            <a:r>
              <a:rPr lang="en-US" sz="69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WORKFLOW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1455737" y="5311775"/>
            <a:ext cx="8574087" cy="40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0" i="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Why Stellar? Fast finality (5s), near-zero fees (&lt;$0.001/tx), native USDC, built-in DEX for auto-funding. Agentic payments only work because Stellar settles at machine speed.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1047750" y="2405062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lang="en-US" sz="3000" b="0" i="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We are builders who believe access to education should not be blocked by financial friction. We shipped ScholarTreat end-to-end in 36 hours at Build on Stellar — Istanbul 2026.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538287" y="3389312"/>
            <a:ext cx="7580312" cy="40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0" i="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Full-stack web dev  |  AI integration  |  Stellar blockchain  |  Product design</a:t>
            </a:r>
            <a:endParaRPr/>
          </a:p>
        </p:txBody>
      </p:sp>
      <p:grpSp>
        <p:nvGrpSpPr>
          <p:cNvPr id="142" name="Google Shape;142;p15"/>
          <p:cNvGrpSpPr/>
          <p:nvPr/>
        </p:nvGrpSpPr>
        <p:grpSpPr>
          <a:xfrm>
            <a:off x="1047750" y="5516562"/>
            <a:ext cx="1227138" cy="495300"/>
            <a:chOff x="0" y="0"/>
            <a:chExt cx="1226534" cy="495300"/>
          </a:xfrm>
        </p:grpSpPr>
        <p:sp>
          <p:nvSpPr>
            <p:cNvPr id="143" name="Google Shape;143;p15"/>
            <p:cNvSpPr txBox="1"/>
            <p:nvPr/>
          </p:nvSpPr>
          <p:spPr>
            <a:xfrm>
              <a:off x="0" y="0"/>
              <a:ext cx="1226534" cy="495300"/>
            </a:xfrm>
            <a:prstGeom prst="rect">
              <a:avLst/>
            </a:prstGeom>
            <a:solidFill>
              <a:srgbClr val="1A1815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5"/>
            <p:cNvSpPr txBox="1"/>
            <p:nvPr/>
          </p:nvSpPr>
          <p:spPr>
            <a:xfrm>
              <a:off x="0" y="10926"/>
              <a:ext cx="12264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00" tIns="88900" rIns="88900" bIns="88900" anchor="b" anchorCtr="0">
              <a:spAutoFit/>
            </a:bodyPr>
            <a:lstStyle/>
            <a:p>
              <a:pPr marL="0" marR="0" lvl="0" indent="0" algn="l" rtl="0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DDA322"/>
                </a:buClr>
                <a:buSzPts val="1800"/>
                <a:buFont typeface="Oswald"/>
                <a:buNone/>
              </a:pPr>
              <a:r>
                <a:rPr lang="en-US" sz="1800" b="1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    </a:t>
              </a:r>
              <a:r>
                <a:rPr lang="en-US" sz="1800" b="1" i="0" u="none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Think</a:t>
              </a:r>
              <a:endParaRPr/>
            </a:p>
          </p:txBody>
        </p:sp>
      </p:grpSp>
      <p:sp>
        <p:nvSpPr>
          <p:cNvPr id="145" name="Google Shape;145;p15"/>
          <p:cNvSpPr txBox="1"/>
          <p:nvPr/>
        </p:nvSpPr>
        <p:spPr>
          <a:xfrm>
            <a:off x="2446319" y="5571750"/>
            <a:ext cx="10287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r>
              <a:rPr lang="en-US" sz="2500" i="1" u="none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Our team has shipped production web apps, integrated LLM APIs, and built on blockchain platforms. We understand the technical stack AND the real-world problem — we have been students who needed micro-funding.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762000" y="971550"/>
            <a:ext cx="8001000" cy="15049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 rot="2700000">
            <a:off x="1104900" y="3351212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 rot="2700000">
            <a:off x="1104900" y="3981450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 rot="2700000">
            <a:off x="1104900" y="4611687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lang="en-US" sz="18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lang="en-US" sz="800" b="1" i="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1047750" y="1200150"/>
            <a:ext cx="4360862" cy="19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8800"/>
              <a:buFont typeface="Anton"/>
              <a:buNone/>
            </a:pPr>
            <a:r>
              <a:rPr lang="en-US" sz="88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THE TEAM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1538287" y="3911600"/>
            <a:ext cx="4660900" cy="40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0" i="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What we shipped in 36 hours:
Full web app with Gen-Z dark UI  |  Stellar wallet auto-creation
XLM to USDC DEX swap (confirmed on-chain)
Gemini AI agent with natural language ranking
Real USDC transfer — TX hash on </a:t>
            </a:r>
            <a:r>
              <a:rPr lang="en-US" sz="2500" b="0" i="0" u="none" dirty="0" err="1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Stellar.Expert</a:t>
            </a:r>
            <a:endParaRPr dirty="0"/>
          </a:p>
        </p:txBody>
      </p:sp>
      <p:sp>
        <p:nvSpPr>
          <p:cNvPr id="155" name="Google Shape;155;p15"/>
          <p:cNvSpPr txBox="1"/>
          <p:nvPr/>
        </p:nvSpPr>
        <p:spPr>
          <a:xfrm>
            <a:off x="1538287" y="4456112"/>
            <a:ext cx="6321425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0" i="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GitHub: github.com/your-team-repo  |  Track: Main + Agentic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</Words>
  <Application>Microsoft Office PowerPoint</Application>
  <PresentationFormat>Özel</PresentationFormat>
  <Paragraphs>52</Paragraphs>
  <Slides>5</Slides>
  <Notes>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12" baseType="lpstr">
      <vt:lpstr>Anton</vt:lpstr>
      <vt:lpstr>Calibri</vt:lpstr>
      <vt:lpstr>Oswald</vt:lpstr>
      <vt:lpstr>Geo</vt:lpstr>
      <vt:lpstr>Georgia</vt:lpstr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Abdüssamed Güldal</dc:creator>
  <cp:lastModifiedBy>ABDÜSSAMED GÜLDAL</cp:lastModifiedBy>
  <cp:revision>2</cp:revision>
  <dcterms:modified xsi:type="dcterms:W3CDTF">2026-06-03T06:23:56Z</dcterms:modified>
</cp:coreProperties>
</file>