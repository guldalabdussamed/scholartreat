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10287000" cx="18288000"/>
  <p:notesSz cx="6858000" cy="9144000"/>
  <p:embeddedFontLst>
    <p:embeddedFont>
      <p:font typeface="Geo"/>
      <p:regular r:id="rId10"/>
      <p:italic r:id="rId11"/>
    </p:embeddedFont>
    <p:embeddedFont>
      <p:font typeface="Anton"/>
      <p:regular r:id="rId12"/>
    </p:embeddedFon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Geo-regular.fntdata"/><Relationship Id="rId11" Type="http://schemas.openxmlformats.org/officeDocument/2006/relationships/font" Target="fonts/Geo-italic.fntdata"/><Relationship Id="rId12" Type="http://schemas.openxmlformats.org/officeDocument/2006/relationships/font" Target="fonts/Anton-regular.fntdata"/><Relationship Id="rId13" Type="http://schemas.openxmlformats.org/officeDocument/2006/relationships/font" Target="fonts/Oswald-regular.fntdata"/><Relationship Id="rId14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5cbe08ac_7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75cbe08ac_7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5cbe08ac_7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75cbe08ac_7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5cbe08ac_7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75cbe08ac_7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5cbe08ac_7_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75cbe08ac_7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138112"/>
            <a:ext cx="16459200" cy="2262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1"/>
          <p:cNvSpPr txBox="1"/>
          <p:nvPr/>
        </p:nvSpPr>
        <p:spPr>
          <a:xfrm>
            <a:off x="1047750" y="242887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</a:t>
            </a:r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1047750" y="362902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STELLAR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1047750" y="4829175"/>
            <a:ext cx="12858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DDA322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DDA322"/>
                </a:solidFill>
                <a:latin typeface="Anton"/>
                <a:ea typeface="Anton"/>
                <a:cs typeface="Anton"/>
                <a:sym typeface="Anton"/>
              </a:rPr>
              <a:t>HACKATHON</a:t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1047750" y="6000750"/>
            <a:ext cx="1285875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b="0" i="0" lang="en-US" sz="2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Every era had its own tool.</a:t>
            </a:r>
            <a:endParaRPr/>
          </a:p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b="0" i="0" lang="en-US" sz="2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The tool of this era: </a:t>
            </a:r>
            <a:r>
              <a:rPr b="1" i="0" lang="en-US" sz="220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CODE.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1047750" y="7324725"/>
            <a:ext cx="5013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cap="sq" cmpd="sng" w="19050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1"/>
          <p:cNvSpPr txBox="1"/>
          <p:nvPr/>
        </p:nvSpPr>
        <p:spPr>
          <a:xfrm>
            <a:off x="2703512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066850" y="7499850"/>
            <a:ext cx="165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ISTANBUL</a:t>
            </a:r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4327525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2713012" y="7499850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JUNE 2–3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4327525" y="7485263"/>
            <a:ext cx="16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48 HOURS</a:t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14612937" y="4610100"/>
            <a:ext cx="2397125" cy="1016000"/>
          </a:xfrm>
          <a:prstGeom prst="rect">
            <a:avLst/>
          </a:prstGeom>
          <a:solidFill>
            <a:srgbClr val="EDE8DC"/>
          </a:solidFill>
          <a:ln cap="sq" cmpd="sng" w="28575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14889162" y="4724400"/>
            <a:ext cx="18446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200"/>
              <a:buFont typeface="Oswald"/>
              <a:buNone/>
            </a:pPr>
            <a:r>
              <a:rPr b="1" i="0" lang="en-US" sz="1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NO HELMET · NO ENTRY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14889162" y="5032375"/>
            <a:ext cx="18446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5861C"/>
              </a:buClr>
              <a:buSzPts val="1200"/>
              <a:buFont typeface="Oswald"/>
              <a:buNone/>
            </a:pPr>
            <a:r>
              <a:rPr b="1" i="0" lang="en-US" sz="120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NO CODE · NO EXIT</a:t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1047750" y="9639300"/>
            <a:ext cx="50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300"/>
              <a:buFont typeface="Oswald"/>
              <a:buNone/>
            </a:pPr>
            <a:r>
              <a:rPr b="1" lang="en-US" sz="1300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i="0" lang="en-US" sz="13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12074525" y="9610725"/>
            <a:ext cx="5165725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300"/>
              <a:buFont typeface="Geo"/>
              <a:buNone/>
            </a:pPr>
            <a:r>
              <a:rPr b="0" i="1" lang="en-US" sz="1300" u="none">
                <a:solidFill>
                  <a:srgbClr val="3A352E"/>
                </a:solidFill>
                <a:latin typeface="Geo"/>
                <a:ea typeface="Geo"/>
                <a:cs typeface="Geo"/>
                <a:sym typeface="Geo"/>
              </a:rPr>
              <a:t>Confidential • All rights reserved © 2026 Stellar Development Foundation</a:t>
            </a:r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537450" y="609600"/>
            <a:ext cx="887412" cy="762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8805862" y="704850"/>
            <a:ext cx="19050" cy="571500"/>
          </a:xfrm>
          <a:prstGeom prst="rect">
            <a:avLst/>
          </a:prstGeom>
          <a:solidFill>
            <a:srgbClr val="1A1815">
              <a:alpha val="29803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9205912" y="752475"/>
            <a:ext cx="1544637" cy="476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 rot="2700000">
            <a:off x="14859000" y="2266950"/>
            <a:ext cx="1905000" cy="1905000"/>
          </a:xfrm>
          <a:prstGeom prst="rect">
            <a:avLst/>
          </a:prstGeom>
          <a:solidFill>
            <a:srgbClr val="DDA322"/>
          </a:solidFill>
          <a:ln cap="sq" cmpd="sng" w="47625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15268575" y="3143250"/>
            <a:ext cx="1085850" cy="893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4000"/>
              <a:buFont typeface="Anton"/>
              <a:buNone/>
            </a:pPr>
            <a:r>
              <a:rPr b="0" i="0" lang="en-US" sz="40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</a:t>
            </a:r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14400" y="3909060"/>
            <a:ext cx="11887200" cy="22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4000" b="1">
                <a:solidFill>
                  <a:srgbClr val="FFFFFF"/>
                </a:solidFill>
              </a:rPr>
              <a:t>ScholarTreat</a:t>
            </a:r>
          </a:p>
          <a:p>
            <a:r>
              <a:rPr lang="en-US" dirty="0" sz="1800">
                <a:solidFill>
                  <a:srgbClr val="BBBBFF"/>
                </a:solidFill>
              </a:rPr>
              <a:t>AI-Powered Micro-Scholarships on Stellar</a:t>
            </a:r>
          </a:p>
          <a:p/>
          <a:p>
            <a:r>
              <a:rPr lang="en-US" dirty="0" sz="1300">
                <a:solidFill>
                  <a:srgbClr val="AAAAAA"/>
                </a:solidFill>
              </a:rPr>
              <a:t>Main Track  +  Agentic Side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ScholarTreat is an AI-powered micro-sponsorship platform on Stellar. Sponsors post small financial rewards (coffee, textbooks, subscriptions) or mini-scholarships. Students with .edu emails apply. A Gemini AI agent ranks applicants by the sponsor's natural language command. Payment is sent instantly via Stellar USDC — no intermediaries, no paperwork.</a:t>
            </a:r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1392222" y="3195625"/>
            <a:ext cx="854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One command. Real on-chain USDC. Verified students. AI-selected recipients.</a:t>
            </a:r>
            <a:endParaRPr i="1"/>
          </a:p>
        </p:txBody>
      </p:sp>
      <p:grpSp>
        <p:nvGrpSpPr>
          <p:cNvPr id="79" name="Google Shape;79;p12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82" name="Google Shape;82;p12"/>
          <p:cNvSpPr txBox="1"/>
          <p:nvPr/>
        </p:nvSpPr>
        <p:spPr>
          <a:xfrm>
            <a:off x="1392222" y="3784600"/>
            <a:ext cx="74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Traditional scholarships are slow, bureaucratic, and inaccessible. ScholarTreat removes all friction: sponsors fund in 30 seconds, students receive crypto instantly, AI handles the matching autonomously.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971550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047750" y="1200150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SOLUTION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2474975" y="5599125"/>
            <a:ext cx="1123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Autonomous AI agent — no manual per-TX approval
Real USDC on Stellar testnet (DEX auto-swap included)
Natural language commands: 'Pick the most motivated student from Turkey'</a:t>
            </a:r>
            <a:endParaRPr i="1"/>
          </a:p>
        </p:txBody>
      </p:sp>
      <p:sp>
        <p:nvSpPr>
          <p:cNvPr id="92" name="Google Shape;92;p12"/>
          <p:cNvSpPr txBox="1"/>
          <p:nvPr/>
        </p:nvSpPr>
        <p:spPr>
          <a:xfrm>
            <a:off x="1447800" y="4456112"/>
            <a:ext cx="49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Sponsor types a command. Agent ranks. Payment flows. Done.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47750" y="2590812"/>
            <a:ext cx="10287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200M+ university students worldwide face a micro-funding gap. They need small amounts ($10-$200) for tools, courses, or just coffee to stay productive. Traditional scholarships require months of paperwork and pay out thousands. Meanwhile, companies want to support students but lack a simple, transparent, verifiable way to do it.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428750" y="3644900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The gap between 'I want to help a student' and 'student receives money' is too wide.</a:t>
            </a: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1047750" y="5756275"/>
            <a:ext cx="1227138" cy="495300"/>
            <a:chOff x="0" y="0"/>
            <a:chExt cx="1226534" cy="495300"/>
          </a:xfrm>
        </p:grpSpPr>
        <p:sp>
          <p:nvSpPr>
            <p:cNvPr id="102" name="Google Shape;102;p13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04" name="Google Shape;104;p13"/>
          <p:cNvSpPr txBox="1"/>
          <p:nvPr/>
        </p:nvSpPr>
        <p:spPr>
          <a:xfrm>
            <a:off x="2446321" y="5811475"/>
            <a:ext cx="771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Market: $7B+ global scholarship market — dominated by slow bureaucratic players
Students: 1 in 3 students face financial stress over small costs
Sponsors: Companies spend $50K+ on CSR but lack student-reach infrastructure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62000" y="990600"/>
            <a:ext cx="5334000" cy="14287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2700000">
            <a:off x="1104900" y="380206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 rot="2700000">
            <a:off x="1104900" y="485140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47750" y="1200150"/>
            <a:ext cx="2098675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PMF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428750" y="4697412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 student in Istanbul needs $15 for a Coursera certificate. No credit card, no bank access — but she has a .edu email. ScholarTreat solves this in 3 minutes, on-chain, with zero paperwork.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47750" y="3440112"/>
            <a:ext cx="10287000" cy="884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1. SPONSOR ONBOARDS: Register, Stellar wallet auto-created, XLM auto-swapped to USDC via Stellar DEX
2. STUDENT APPLIES: .edu email verified, wallet created, browses offers, applies
3. AI AGENT RANKS: Sponsor types natural command, Gemini AI scores and ranks all applicants
4. PAYMENT FIRES: Server fetches keys, sets trustlines, sends real USDC on Stellar — TX hash returned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455737" y="4681537"/>
            <a:ext cx="744855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Every step is autonomous. Agent handles trustlines, DEX swaps, and payments without manual intervention.</a:t>
            </a:r>
            <a:endParaRPr/>
          </a:p>
        </p:txBody>
      </p:sp>
      <p:grpSp>
        <p:nvGrpSpPr>
          <p:cNvPr id="121" name="Google Shape;121;p14"/>
          <p:cNvGrpSpPr/>
          <p:nvPr/>
        </p:nvGrpSpPr>
        <p:grpSpPr>
          <a:xfrm>
            <a:off x="1047750" y="6372225"/>
            <a:ext cx="1227138" cy="495300"/>
            <a:chOff x="0" y="0"/>
            <a:chExt cx="1226534" cy="495300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24" name="Google Shape;124;p14"/>
          <p:cNvSpPr txBox="1"/>
          <p:nvPr/>
        </p:nvSpPr>
        <p:spPr>
          <a:xfrm>
            <a:off x="2446322" y="6315075"/>
            <a:ext cx="916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Stellar SDK: wallet generation, USDC payment, DEX pathPaymentStrictReceive
Gemini 2.5 Flash Lite: AI applicant ranking by natural language command
Circle USDC testnet: real stablecoin, auto-funded via Stellar DEX swap
Firebase Firestore: student/sponsor/offer data  |  Next.js 16: full-stack app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62000" y="952500"/>
            <a:ext cx="11049000" cy="19621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 rot="2700000">
            <a:off x="1104900" y="48371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 rot="2700000">
            <a:off x="1104900" y="54673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047750" y="1190625"/>
            <a:ext cx="3698875" cy="15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b="0" i="0" lang="en-US" sz="69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TECHNICAL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047750" y="1944687"/>
            <a:ext cx="369887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b="0" i="0" lang="en-US" sz="69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WORKFLOW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455737" y="5311775"/>
            <a:ext cx="8574087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Why Stellar? Fast finality (5s), near-zero fees (&lt;$0.001/tx), native USDC, built-in DEX for auto-funding. Agentic payments only work because Stellar settles at machine speed.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We are builders who believe access to education should not be blocked by financial friction. We shipped ScholarTreat end-to-end in 36 hours at Build on Stellar — Istanbul 2026.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538287" y="3389312"/>
            <a:ext cx="7580312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Full-stack web dev  |  AI integration  |  Stellar blockchain  |  Product design</a:t>
            </a:r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143" name="Google Shape;143;p15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45" name="Google Shape;145;p15"/>
          <p:cNvSpPr txBox="1"/>
          <p:nvPr/>
        </p:nvSpPr>
        <p:spPr>
          <a:xfrm>
            <a:off x="2446319" y="5571750"/>
            <a:ext cx="102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Our team has shipped production web apps, integrated LLM APIs, and built on blockchain platforms. We understand the technical stack AND the real-world problem — we have been students who needed micro-funding.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62000" y="971550"/>
            <a:ext cx="8001000" cy="15049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047750" y="1200150"/>
            <a:ext cx="4360862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TEAM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538287" y="3911600"/>
            <a:ext cx="46609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What we shipped in 36 hours:
Full web app with Gen-Z dark UI  |  Stellar wallet auto-creation
XLM to USDC DEX swap (confirmed on-chain)
Gemini AI agent with natural language ranking
Real USDC transfer — TX hash on Stellar.Expert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538287" y="4456112"/>
            <a:ext cx="632142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GitHub: github.com/your-team-repo  |  Track: Main + Agentic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