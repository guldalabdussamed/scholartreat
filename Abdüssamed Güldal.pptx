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Anton" pitchFamily="2" charset="-94"/>
      <p:regular r:id="rId8"/>
    </p:embeddedFont>
    <p:embeddedFont>
      <p:font typeface="Geo" panose="020B0604020202020204"/>
      <p:regular r:id="rId9"/>
      <p:italic r:id="rId10"/>
    </p:embeddedFont>
    <p:embeddedFont>
      <p:font typeface="Georgia" panose="02040502050405020303" pitchFamily="18" charset="0"/>
      <p:regular r:id="rId11"/>
      <p:bold r:id="rId12"/>
      <p:italic r:id="rId13"/>
      <p:boldItalic r:id="rId14"/>
    </p:embeddedFont>
    <p:embeddedFont>
      <p:font typeface="Oswald" panose="00000500000000000000" pitchFamily="2" charset="-94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75cbe08ac_7_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g3e75cbe08ac_7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75cbe08ac_7_4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3e75cbe08ac_7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75cbe08ac_7_6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g3e75cbe08ac_7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75cbe08ac_7_8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g3e75cbe08ac_7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>
            <a:spLocks noGrp="1"/>
          </p:cNvSpPr>
          <p:nvPr>
            <p:ph type="body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2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body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 b="1"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2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1pPr>
            <a:lvl2pPr marL="914400" lvl="1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2pPr>
            <a:lvl3pPr marL="1371600" lvl="2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3pPr>
            <a:lvl4pPr marL="1828800" lvl="3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4pPr>
            <a:lvl5pPr marL="2286000" lvl="4" indent="-406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»"/>
              <a:defRPr sz="2800"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marL="914400" lvl="1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marL="1828800" lvl="3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marL="2286000" lvl="4" indent="-228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14400" y="138112"/>
            <a:ext cx="16459200" cy="2262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318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28037" y="6415087"/>
            <a:ext cx="258762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1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1"/>
          <p:cNvSpPr txBox="1"/>
          <p:nvPr/>
        </p:nvSpPr>
        <p:spPr>
          <a:xfrm>
            <a:off x="1047750" y="2428875"/>
            <a:ext cx="12858750" cy="12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3928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1200"/>
              <a:buFont typeface="Anton"/>
              <a:buNone/>
            </a:pPr>
            <a:r>
              <a:rPr lang="en-US" sz="11200" b="0" i="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BUILD ON</a:t>
            </a:r>
            <a:endParaRPr/>
          </a:p>
        </p:txBody>
      </p:sp>
      <p:sp>
        <p:nvSpPr>
          <p:cNvPr id="52" name="Google Shape;52;p11"/>
          <p:cNvSpPr txBox="1"/>
          <p:nvPr/>
        </p:nvSpPr>
        <p:spPr>
          <a:xfrm>
            <a:off x="1047750" y="3629025"/>
            <a:ext cx="12858750" cy="12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3928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1200"/>
              <a:buFont typeface="Anton"/>
              <a:buNone/>
            </a:pPr>
            <a:r>
              <a:rPr lang="en-US" sz="11200" b="0" i="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STELLAR</a:t>
            </a:r>
            <a:endParaRPr/>
          </a:p>
        </p:txBody>
      </p:sp>
      <p:sp>
        <p:nvSpPr>
          <p:cNvPr id="53" name="Google Shape;53;p11"/>
          <p:cNvSpPr txBox="1"/>
          <p:nvPr/>
        </p:nvSpPr>
        <p:spPr>
          <a:xfrm>
            <a:off x="1047750" y="4829175"/>
            <a:ext cx="128589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3928"/>
              </a:lnSpc>
              <a:spcBef>
                <a:spcPts val="0"/>
              </a:spcBef>
              <a:spcAft>
                <a:spcPts val="0"/>
              </a:spcAft>
              <a:buClr>
                <a:srgbClr val="DDA322"/>
              </a:buClr>
              <a:buSzPts val="11200"/>
              <a:buFont typeface="Anton"/>
              <a:buNone/>
            </a:pPr>
            <a:r>
              <a:rPr lang="en-US" sz="11200" b="0" i="0" u="none">
                <a:solidFill>
                  <a:srgbClr val="DDA322"/>
                </a:solidFill>
                <a:latin typeface="Anton"/>
                <a:ea typeface="Anton"/>
                <a:cs typeface="Anton"/>
                <a:sym typeface="Anton"/>
              </a:rPr>
              <a:t>HACKATHON</a:t>
            </a:r>
            <a:endParaRPr/>
          </a:p>
        </p:txBody>
      </p:sp>
      <p:sp>
        <p:nvSpPr>
          <p:cNvPr id="54" name="Google Shape;54;p11"/>
          <p:cNvSpPr txBox="1"/>
          <p:nvPr/>
        </p:nvSpPr>
        <p:spPr>
          <a:xfrm>
            <a:off x="1047750" y="6000750"/>
            <a:ext cx="12858750" cy="7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200"/>
              <a:buFont typeface="Oswald"/>
              <a:buNone/>
            </a:pPr>
            <a:r>
              <a:rPr lang="en-US" sz="2200" b="0" i="0" u="none">
                <a:solidFill>
                  <a:srgbClr val="1A1815"/>
                </a:solidFill>
                <a:latin typeface="Oswald"/>
                <a:ea typeface="Oswald"/>
                <a:cs typeface="Oswald"/>
                <a:sym typeface="Oswald"/>
              </a:rPr>
              <a:t>Every era had its own tool.</a:t>
            </a:r>
            <a:endParaRPr/>
          </a:p>
          <a:p>
            <a:pPr marL="0" marR="0" lvl="0" indent="0" algn="l" rtl="0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200"/>
              <a:buFont typeface="Oswald"/>
              <a:buNone/>
            </a:pPr>
            <a:r>
              <a:rPr lang="en-US" sz="2200" b="0" i="0" u="none">
                <a:solidFill>
                  <a:srgbClr val="1A1815"/>
                </a:solidFill>
                <a:latin typeface="Oswald"/>
                <a:ea typeface="Oswald"/>
                <a:cs typeface="Oswald"/>
                <a:sym typeface="Oswald"/>
              </a:rPr>
              <a:t>The tool of this era: </a:t>
            </a:r>
            <a:r>
              <a:rPr lang="en-US" sz="2200" b="1" i="0" u="none">
                <a:solidFill>
                  <a:srgbClr val="B5861C"/>
                </a:solidFill>
                <a:latin typeface="Oswald"/>
                <a:ea typeface="Oswald"/>
                <a:cs typeface="Oswald"/>
                <a:sym typeface="Oswald"/>
              </a:rPr>
              <a:t>CODE.</a:t>
            </a:r>
            <a:endParaRPr/>
          </a:p>
        </p:txBody>
      </p:sp>
      <p:sp>
        <p:nvSpPr>
          <p:cNvPr id="55" name="Google Shape;55;p11"/>
          <p:cNvSpPr txBox="1"/>
          <p:nvPr/>
        </p:nvSpPr>
        <p:spPr>
          <a:xfrm>
            <a:off x="1047750" y="7324725"/>
            <a:ext cx="50133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19050" cap="sq" cmpd="sng">
            <a:solidFill>
              <a:srgbClr val="1A181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1"/>
          <p:cNvSpPr txBox="1"/>
          <p:nvPr/>
        </p:nvSpPr>
        <p:spPr>
          <a:xfrm>
            <a:off x="2703512" y="7343775"/>
            <a:ext cx="19050" cy="647700"/>
          </a:xfrm>
          <a:prstGeom prst="rect">
            <a:avLst/>
          </a:prstGeom>
          <a:solidFill>
            <a:srgbClr val="1A1815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1"/>
          <p:cNvSpPr txBox="1"/>
          <p:nvPr/>
        </p:nvSpPr>
        <p:spPr>
          <a:xfrm>
            <a:off x="1066850" y="7499850"/>
            <a:ext cx="1655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800"/>
              <a:buFont typeface="Oswald"/>
              <a:buNone/>
            </a:pPr>
            <a:r>
              <a:rPr lang="en-US" sz="1800" b="1" i="0" u="none">
                <a:solidFill>
                  <a:srgbClr val="1A1815"/>
                </a:solidFill>
                <a:latin typeface="Oswald"/>
                <a:ea typeface="Oswald"/>
                <a:cs typeface="Oswald"/>
                <a:sym typeface="Oswald"/>
              </a:rPr>
              <a:t>ISTANBUL</a:t>
            </a:r>
            <a:endParaRPr/>
          </a:p>
        </p:txBody>
      </p:sp>
      <p:sp>
        <p:nvSpPr>
          <p:cNvPr id="58" name="Google Shape;58;p11"/>
          <p:cNvSpPr txBox="1"/>
          <p:nvPr/>
        </p:nvSpPr>
        <p:spPr>
          <a:xfrm>
            <a:off x="4327525" y="7343775"/>
            <a:ext cx="19050" cy="647700"/>
          </a:xfrm>
          <a:prstGeom prst="rect">
            <a:avLst/>
          </a:prstGeom>
          <a:solidFill>
            <a:srgbClr val="1A1815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1"/>
          <p:cNvSpPr txBox="1"/>
          <p:nvPr/>
        </p:nvSpPr>
        <p:spPr>
          <a:xfrm>
            <a:off x="2713012" y="7499850"/>
            <a:ext cx="1623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800"/>
              <a:buFont typeface="Oswald"/>
              <a:buNone/>
            </a:pPr>
            <a:r>
              <a:rPr lang="en-US" sz="1800" b="1" i="0" u="none">
                <a:solidFill>
                  <a:srgbClr val="1A1815"/>
                </a:solidFill>
                <a:latin typeface="Oswald"/>
                <a:ea typeface="Oswald"/>
                <a:cs typeface="Oswald"/>
                <a:sym typeface="Oswald"/>
              </a:rPr>
              <a:t>JUNE 2–3</a:t>
            </a:r>
            <a:endParaRPr/>
          </a:p>
        </p:txBody>
      </p:sp>
      <p:sp>
        <p:nvSpPr>
          <p:cNvPr id="60" name="Google Shape;60;p11"/>
          <p:cNvSpPr txBox="1"/>
          <p:nvPr/>
        </p:nvSpPr>
        <p:spPr>
          <a:xfrm>
            <a:off x="4327525" y="7485263"/>
            <a:ext cx="1695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8888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800"/>
              <a:buFont typeface="Oswald"/>
              <a:buNone/>
            </a:pPr>
            <a:r>
              <a:rPr lang="en-US" sz="1800" b="1" i="0" u="none">
                <a:solidFill>
                  <a:srgbClr val="1A1815"/>
                </a:solidFill>
                <a:latin typeface="Oswald"/>
                <a:ea typeface="Oswald"/>
                <a:cs typeface="Oswald"/>
                <a:sym typeface="Oswald"/>
              </a:rPr>
              <a:t>48 HOURS</a:t>
            </a:r>
            <a:endParaRPr/>
          </a:p>
        </p:txBody>
      </p:sp>
      <p:sp>
        <p:nvSpPr>
          <p:cNvPr id="61" name="Google Shape;61;p11"/>
          <p:cNvSpPr txBox="1"/>
          <p:nvPr/>
        </p:nvSpPr>
        <p:spPr>
          <a:xfrm>
            <a:off x="14612937" y="4610100"/>
            <a:ext cx="2397125" cy="1016000"/>
          </a:xfrm>
          <a:prstGeom prst="rect">
            <a:avLst/>
          </a:prstGeom>
          <a:solidFill>
            <a:srgbClr val="EDE8DC"/>
          </a:solidFill>
          <a:ln w="28575" cap="sq" cmpd="sng">
            <a:solidFill>
              <a:srgbClr val="1A181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1"/>
          <p:cNvSpPr txBox="1"/>
          <p:nvPr/>
        </p:nvSpPr>
        <p:spPr>
          <a:xfrm>
            <a:off x="14889162" y="4724400"/>
            <a:ext cx="1844675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200"/>
              <a:buFont typeface="Oswald"/>
              <a:buNone/>
            </a:pPr>
            <a:r>
              <a:rPr lang="en-US" sz="1200" b="1" i="0" u="none">
                <a:solidFill>
                  <a:srgbClr val="1A1815"/>
                </a:solidFill>
                <a:latin typeface="Oswald"/>
                <a:ea typeface="Oswald"/>
                <a:cs typeface="Oswald"/>
                <a:sym typeface="Oswald"/>
              </a:rPr>
              <a:t>NO HELMET · NO ENTRY</a:t>
            </a:r>
            <a:endParaRPr/>
          </a:p>
        </p:txBody>
      </p:sp>
      <p:sp>
        <p:nvSpPr>
          <p:cNvPr id="63" name="Google Shape;63;p11"/>
          <p:cNvSpPr txBox="1"/>
          <p:nvPr/>
        </p:nvSpPr>
        <p:spPr>
          <a:xfrm>
            <a:off x="14889162" y="5032375"/>
            <a:ext cx="1844675" cy="27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B5861C"/>
              </a:buClr>
              <a:buSzPts val="1200"/>
              <a:buFont typeface="Oswald"/>
              <a:buNone/>
            </a:pPr>
            <a:r>
              <a:rPr lang="en-US" sz="1200" b="1" i="0" u="none">
                <a:solidFill>
                  <a:srgbClr val="B5861C"/>
                </a:solidFill>
                <a:latin typeface="Oswald"/>
                <a:ea typeface="Oswald"/>
                <a:cs typeface="Oswald"/>
                <a:sym typeface="Oswald"/>
              </a:rPr>
              <a:t>NO CODE · NO EXIT</a:t>
            </a:r>
            <a:endParaRPr/>
          </a:p>
        </p:txBody>
      </p:sp>
      <p:sp>
        <p:nvSpPr>
          <p:cNvPr id="64" name="Google Shape;64;p11"/>
          <p:cNvSpPr txBox="1"/>
          <p:nvPr/>
        </p:nvSpPr>
        <p:spPr>
          <a:xfrm>
            <a:off x="1047750" y="9639300"/>
            <a:ext cx="507900" cy="2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300"/>
              <a:buFont typeface="Oswald"/>
              <a:buNone/>
            </a:pPr>
            <a:r>
              <a:rPr lang="en-US" sz="1300" b="1">
                <a:solidFill>
                  <a:srgbClr val="1A1815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1300" b="1" i="0" u="none">
                <a:solidFill>
                  <a:srgbClr val="1A1815"/>
                </a:solidFill>
                <a:latin typeface="Oswald"/>
                <a:ea typeface="Oswald"/>
                <a:cs typeface="Oswald"/>
                <a:sym typeface="Oswald"/>
              </a:rPr>
              <a:t>2026</a:t>
            </a:r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12074525" y="9610725"/>
            <a:ext cx="5165725" cy="449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1300"/>
              <a:buFont typeface="Geo"/>
              <a:buNone/>
            </a:pPr>
            <a:r>
              <a:rPr lang="en-US" sz="1300" b="0" i="1" u="none">
                <a:solidFill>
                  <a:srgbClr val="3A352E"/>
                </a:solidFill>
                <a:latin typeface="Geo"/>
                <a:ea typeface="Geo"/>
                <a:cs typeface="Geo"/>
                <a:sym typeface="Geo"/>
              </a:rPr>
              <a:t>Confidential • All rights reserved © 2026 Stellar Development Foundation</a:t>
            </a:r>
            <a:endParaRPr/>
          </a:p>
        </p:txBody>
      </p:sp>
      <p:sp>
        <p:nvSpPr>
          <p:cNvPr id="66" name="Google Shape;66;p11"/>
          <p:cNvSpPr txBox="1"/>
          <p:nvPr/>
        </p:nvSpPr>
        <p:spPr>
          <a:xfrm>
            <a:off x="7537450" y="609600"/>
            <a:ext cx="887412" cy="762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1"/>
          <p:cNvSpPr txBox="1"/>
          <p:nvPr/>
        </p:nvSpPr>
        <p:spPr>
          <a:xfrm>
            <a:off x="8805862" y="704850"/>
            <a:ext cx="19050" cy="571500"/>
          </a:xfrm>
          <a:prstGeom prst="rect">
            <a:avLst/>
          </a:prstGeom>
          <a:solidFill>
            <a:srgbClr val="1A1815">
              <a:alpha val="29803"/>
            </a:srgbClr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1"/>
          <p:cNvSpPr txBox="1"/>
          <p:nvPr/>
        </p:nvSpPr>
        <p:spPr>
          <a:xfrm>
            <a:off x="9205912" y="752475"/>
            <a:ext cx="1544637" cy="47625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1"/>
          <p:cNvSpPr txBox="1"/>
          <p:nvPr/>
        </p:nvSpPr>
        <p:spPr>
          <a:xfrm rot="2700000">
            <a:off x="14859000" y="2266950"/>
            <a:ext cx="1905000" cy="1905000"/>
          </a:xfrm>
          <a:prstGeom prst="rect">
            <a:avLst/>
          </a:prstGeom>
          <a:solidFill>
            <a:srgbClr val="DDA322"/>
          </a:solidFill>
          <a:ln w="47625" cap="sq" cmpd="sng">
            <a:solidFill>
              <a:srgbClr val="1A181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1"/>
          <p:cNvSpPr txBox="1"/>
          <p:nvPr/>
        </p:nvSpPr>
        <p:spPr>
          <a:xfrm>
            <a:off x="15268575" y="3143250"/>
            <a:ext cx="1085850" cy="893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4000"/>
              <a:buFont typeface="Anton"/>
              <a:buNone/>
            </a:pPr>
            <a:r>
              <a:rPr lang="en-US" sz="4000" b="0" i="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BUILD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2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2"/>
          <p:cNvSpPr txBox="1"/>
          <p:nvPr/>
        </p:nvSpPr>
        <p:spPr>
          <a:xfrm>
            <a:off x="1907949" y="6243586"/>
            <a:ext cx="8543400" cy="304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lang="en-US" sz="2500" b="1" i="1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Present your </a:t>
            </a:r>
            <a:r>
              <a:rPr lang="en-US" sz="2500" b="1" i="1" u="none" dirty="0" err="1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ideStellar</a:t>
            </a:r>
            <a:r>
              <a:rPr lang="en-US" sz="2500" b="1" i="1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 Payments:</a:t>
            </a:r>
            <a:r>
              <a:rPr lang="en-US" sz="2500" i="1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 Instant, near-zero fee USDC stablecoin settlements globally.</a:t>
            </a: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lang="en-US" sz="2500" b="1" i="1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AI Matching: </a:t>
            </a:r>
            <a:r>
              <a:rPr lang="en-US" sz="2500" i="1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Gemini 2.5 Flash matches and scores student profiles against sponsor criteria automatically.</a:t>
            </a: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lang="en-US" sz="2500" b="1" i="1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Edu-Verification: </a:t>
            </a:r>
            <a:r>
              <a:rPr lang="en-US" sz="2500" i="1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Trust built via university email </a:t>
            </a:r>
            <a:r>
              <a:rPr lang="en-US" sz="2500" i="1" u="none" dirty="0" err="1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verification.a</a:t>
            </a:r>
            <a:r>
              <a:rPr lang="en-US" sz="2500" i="1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 as the answer to the pain point.</a:t>
            </a:r>
            <a:endParaRPr i="1" dirty="0"/>
          </a:p>
        </p:txBody>
      </p:sp>
      <p:sp>
        <p:nvSpPr>
          <p:cNvPr id="83" name="Google Shape;83;p12"/>
          <p:cNvSpPr txBox="1"/>
          <p:nvPr/>
        </p:nvSpPr>
        <p:spPr>
          <a:xfrm>
            <a:off x="1008697" y="4668462"/>
            <a:ext cx="11239500" cy="146685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2"/>
          <p:cNvSpPr txBox="1"/>
          <p:nvPr/>
        </p:nvSpPr>
        <p:spPr>
          <a:xfrm rot="2700000">
            <a:off x="1351597" y="6436938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2"/>
          <p:cNvSpPr txBox="1"/>
          <p:nvPr/>
        </p:nvSpPr>
        <p:spPr>
          <a:xfrm rot="2700000">
            <a:off x="1351597" y="7678362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2"/>
          <p:cNvSpPr txBox="1"/>
          <p:nvPr/>
        </p:nvSpPr>
        <p:spPr>
          <a:xfrm rot="2700000">
            <a:off x="1351597" y="8308599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2"/>
          <p:cNvSpPr txBox="1"/>
          <p:nvPr/>
        </p:nvSpPr>
        <p:spPr>
          <a:xfrm>
            <a:off x="15670212" y="9096375"/>
            <a:ext cx="1570037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800"/>
              <a:buFont typeface="Anton"/>
              <a:buNone/>
            </a:pPr>
            <a:r>
              <a:rPr lang="en-US" sz="1800" b="0" i="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BUILD ON STELLAR</a:t>
            </a:r>
            <a:endParaRPr/>
          </a:p>
        </p:txBody>
      </p:sp>
      <p:sp>
        <p:nvSpPr>
          <p:cNvPr id="88" name="Google Shape;88;p12"/>
          <p:cNvSpPr txBox="1"/>
          <p:nvPr/>
        </p:nvSpPr>
        <p:spPr>
          <a:xfrm>
            <a:off x="15670212" y="9353550"/>
            <a:ext cx="1570037" cy="134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800"/>
              <a:buFont typeface="Oswald"/>
              <a:buNone/>
            </a:pPr>
            <a:r>
              <a:rPr lang="en-US" sz="800" b="1" i="0" u="none">
                <a:solidFill>
                  <a:srgbClr val="3A352E"/>
                </a:solidFill>
                <a:latin typeface="Oswald"/>
                <a:ea typeface="Oswald"/>
                <a:cs typeface="Oswald"/>
                <a:sym typeface="Oswald"/>
              </a:rPr>
              <a:t>Hackathon · 2026</a:t>
            </a:r>
            <a:endParaRPr/>
          </a:p>
        </p:txBody>
      </p:sp>
      <p:sp>
        <p:nvSpPr>
          <p:cNvPr id="89" name="Google Shape;89;p12"/>
          <p:cNvSpPr txBox="1"/>
          <p:nvPr/>
        </p:nvSpPr>
        <p:spPr>
          <a:xfrm rot="2700000">
            <a:off x="15060612" y="9077325"/>
            <a:ext cx="438150" cy="438150"/>
          </a:xfrm>
          <a:prstGeom prst="rect">
            <a:avLst/>
          </a:prstGeom>
          <a:solidFill>
            <a:srgbClr val="1A1815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2"/>
          <p:cNvSpPr txBox="1"/>
          <p:nvPr/>
        </p:nvSpPr>
        <p:spPr>
          <a:xfrm>
            <a:off x="1294447" y="4897062"/>
            <a:ext cx="5964237" cy="19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6363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8800"/>
              <a:buFont typeface="Anton"/>
              <a:buNone/>
            </a:pPr>
            <a:r>
              <a:rPr lang="en-US" sz="8800" b="0" i="0" u="none" dirty="0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THE SOLUTION</a:t>
            </a:r>
            <a:endParaRPr dirty="0"/>
          </a:p>
        </p:txBody>
      </p:sp>
      <p:sp>
        <p:nvSpPr>
          <p:cNvPr id="2" name="Google Shape;83;p12">
            <a:extLst>
              <a:ext uri="{FF2B5EF4-FFF2-40B4-BE49-F238E27FC236}">
                <a16:creationId xmlns:a16="http://schemas.microsoft.com/office/drawing/2014/main" id="{77245457-9BC9-B16B-3F7F-D7D6F32807C3}"/>
              </a:ext>
            </a:extLst>
          </p:cNvPr>
          <p:cNvSpPr txBox="1"/>
          <p:nvPr/>
        </p:nvSpPr>
        <p:spPr>
          <a:xfrm>
            <a:off x="1008697" y="659514"/>
            <a:ext cx="11239500" cy="146685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90;p12">
            <a:extLst>
              <a:ext uri="{FF2B5EF4-FFF2-40B4-BE49-F238E27FC236}">
                <a16:creationId xmlns:a16="http://schemas.microsoft.com/office/drawing/2014/main" id="{76206836-5F84-B4F0-73B6-10FC1C754EBA}"/>
              </a:ext>
            </a:extLst>
          </p:cNvPr>
          <p:cNvSpPr txBox="1"/>
          <p:nvPr/>
        </p:nvSpPr>
        <p:spPr>
          <a:xfrm>
            <a:off x="1294447" y="888114"/>
            <a:ext cx="5964237" cy="19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6363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8800"/>
              <a:buFont typeface="Anton"/>
              <a:buNone/>
            </a:pPr>
            <a:r>
              <a:rPr lang="en-US" sz="8800" b="0" i="0" u="none" dirty="0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THE SOLUTION</a:t>
            </a:r>
            <a:endParaRPr dirty="0"/>
          </a:p>
        </p:txBody>
      </p:sp>
      <p:sp>
        <p:nvSpPr>
          <p:cNvPr id="4" name="Google Shape;77;p12">
            <a:extLst>
              <a:ext uri="{FF2B5EF4-FFF2-40B4-BE49-F238E27FC236}">
                <a16:creationId xmlns:a16="http://schemas.microsoft.com/office/drawing/2014/main" id="{0ADBB657-B381-637F-5C1C-CCA9A6E07D3A}"/>
              </a:ext>
            </a:extLst>
          </p:cNvPr>
          <p:cNvSpPr txBox="1"/>
          <p:nvPr/>
        </p:nvSpPr>
        <p:spPr>
          <a:xfrm>
            <a:off x="1907949" y="2340733"/>
            <a:ext cx="10287000" cy="1800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3000"/>
              <a:buFont typeface="Georgia"/>
              <a:buNone/>
            </a:pPr>
            <a:r>
              <a:rPr lang="en-US" sz="2500" b="1" i="0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Border Barriers: </a:t>
            </a:r>
            <a:r>
              <a:rPr lang="en-US" sz="2500" b="0" i="0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High fees &amp; slow rails block global micro-sponsorships (e.g., buying a student coffee/books).</a:t>
            </a:r>
          </a:p>
          <a:p>
            <a:pPr marL="0" marR="0" lvl="0" indent="0" algn="l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3000"/>
              <a:buFont typeface="Georgia"/>
              <a:buNone/>
            </a:pPr>
            <a:r>
              <a:rPr lang="en-US" sz="2500" b="1" i="0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No Trust: </a:t>
            </a:r>
            <a:r>
              <a:rPr lang="en-US" sz="2500" b="0" i="0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Sponsors can't verify if recipients are actual students or fit specific criteria.</a:t>
            </a:r>
            <a:endParaRPr sz="2500" dirty="0"/>
          </a:p>
        </p:txBody>
      </p:sp>
      <p:sp>
        <p:nvSpPr>
          <p:cNvPr id="5" name="Google Shape;106;p13">
            <a:extLst>
              <a:ext uri="{FF2B5EF4-FFF2-40B4-BE49-F238E27FC236}">
                <a16:creationId xmlns:a16="http://schemas.microsoft.com/office/drawing/2014/main" id="{2C7ACF6C-1174-6697-0A45-137A78218DF1}"/>
              </a:ext>
            </a:extLst>
          </p:cNvPr>
          <p:cNvSpPr txBox="1"/>
          <p:nvPr/>
        </p:nvSpPr>
        <p:spPr>
          <a:xfrm rot="2700000">
            <a:off x="1326010" y="3453887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06;p13">
            <a:extLst>
              <a:ext uri="{FF2B5EF4-FFF2-40B4-BE49-F238E27FC236}">
                <a16:creationId xmlns:a16="http://schemas.microsoft.com/office/drawing/2014/main" id="{CF2D285E-04CA-0C60-B9C5-860F253AB777}"/>
              </a:ext>
            </a:extLst>
          </p:cNvPr>
          <p:cNvSpPr txBox="1"/>
          <p:nvPr/>
        </p:nvSpPr>
        <p:spPr>
          <a:xfrm rot="2700000">
            <a:off x="1346564" y="2529013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1620838" y="3194050"/>
            <a:ext cx="11239500" cy="4570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lang="en-US" sz="2500" b="1" i="0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Sponsor Demand (Pazar Talebi): </a:t>
            </a:r>
            <a:r>
              <a:rPr lang="en-US" sz="2500" b="0" i="0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Web3 companies and tech communities want to incentivize students learning their stack (e.g., Rust, Soroban) but face heavy compliance/manual tracking issues.</a:t>
            </a: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lang="en-US" sz="2500" b="1" i="0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Student Needs (</a:t>
            </a:r>
            <a:r>
              <a:rPr lang="en-US" sz="2500" b="1" i="0" u="none" dirty="0" err="1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Öğrenci</a:t>
            </a:r>
            <a:r>
              <a:rPr lang="en-US" sz="2500" b="1" i="0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500" b="1" i="0" u="none" dirty="0" err="1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İhtiyacı</a:t>
            </a:r>
            <a:r>
              <a:rPr lang="en-US" sz="2500" b="1" i="0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): </a:t>
            </a:r>
            <a:r>
              <a:rPr lang="en-US" sz="2500" b="0" i="0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Global students (especially in emerging markets) need micro-funding for educational expenses, but traditional banks eat 20%+ of small international transfers.</a:t>
            </a: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lang="en-US" sz="2500" b="1" i="0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The "Treat" Mechanics (</a:t>
            </a:r>
            <a:r>
              <a:rPr lang="en-US" sz="2500" b="1" i="0" u="none" dirty="0" err="1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Çözüm</a:t>
            </a:r>
            <a:r>
              <a:rPr lang="en-US" sz="2500" b="1" i="0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500" b="1" i="0" u="none" dirty="0" err="1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Uyum</a:t>
            </a:r>
            <a:r>
              <a:rPr lang="en-US" sz="2500" b="1" i="0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2500" b="1" i="0" u="none" dirty="0" err="1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Noktası</a:t>
            </a:r>
            <a:r>
              <a:rPr lang="en-US" sz="2500" b="1" i="0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): </a:t>
            </a:r>
            <a:r>
              <a:rPr lang="en-US" sz="2500" b="0" i="0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Instant, low-fee Stellar USDC rewards combined with instant University (.</a:t>
            </a:r>
            <a:r>
              <a:rPr lang="en-US" sz="2500" b="0" i="0" u="none" dirty="0" err="1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edu</a:t>
            </a:r>
            <a:r>
              <a:rPr lang="en-US" sz="2500" b="0" i="0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) verification. PMF is validated through direct student developer acquisition.</a:t>
            </a:r>
            <a:endParaRPr dirty="0"/>
          </a:p>
        </p:txBody>
      </p:sp>
      <p:sp>
        <p:nvSpPr>
          <p:cNvPr id="105" name="Google Shape;105;p13"/>
          <p:cNvSpPr txBox="1"/>
          <p:nvPr/>
        </p:nvSpPr>
        <p:spPr>
          <a:xfrm>
            <a:off x="762000" y="990600"/>
            <a:ext cx="5334000" cy="142875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 rot="2700000">
            <a:off x="1150331" y="3435163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 rot="2700000">
            <a:off x="1150329" y="4834217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15670212" y="9096375"/>
            <a:ext cx="1570037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800"/>
              <a:buFont typeface="Anton"/>
              <a:buNone/>
            </a:pPr>
            <a:r>
              <a:rPr lang="en-US" sz="1800" b="0" i="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BUILD ON STELLAR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15670212" y="9353550"/>
            <a:ext cx="1570037" cy="134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800"/>
              <a:buFont typeface="Oswald"/>
              <a:buNone/>
            </a:pPr>
            <a:r>
              <a:rPr lang="en-US" sz="800" b="1" i="0" u="none">
                <a:solidFill>
                  <a:srgbClr val="3A352E"/>
                </a:solidFill>
                <a:latin typeface="Oswald"/>
                <a:ea typeface="Oswald"/>
                <a:cs typeface="Oswald"/>
                <a:sym typeface="Oswald"/>
              </a:rPr>
              <a:t>Hackathon · 2026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 rot="2700000">
            <a:off x="15060612" y="9077325"/>
            <a:ext cx="438150" cy="438150"/>
          </a:xfrm>
          <a:prstGeom prst="rect">
            <a:avLst/>
          </a:prstGeom>
          <a:solidFill>
            <a:srgbClr val="1A1815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1047750" y="1200150"/>
            <a:ext cx="2098675" cy="19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6363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8800"/>
              <a:buFont typeface="Anton"/>
              <a:buNone/>
            </a:pPr>
            <a:r>
              <a:rPr lang="en-US" sz="8800" b="0" i="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PMF</a:t>
            </a:r>
            <a:endParaRPr/>
          </a:p>
        </p:txBody>
      </p:sp>
      <p:sp>
        <p:nvSpPr>
          <p:cNvPr id="2" name="Google Shape;106;p13">
            <a:extLst>
              <a:ext uri="{FF2B5EF4-FFF2-40B4-BE49-F238E27FC236}">
                <a16:creationId xmlns:a16="http://schemas.microsoft.com/office/drawing/2014/main" id="{1E18ED7E-9014-2736-8CF4-F5C7C4C2214C}"/>
              </a:ext>
            </a:extLst>
          </p:cNvPr>
          <p:cNvSpPr txBox="1"/>
          <p:nvPr/>
        </p:nvSpPr>
        <p:spPr>
          <a:xfrm rot="2700000">
            <a:off x="1150332" y="6448799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1546226" y="3299921"/>
            <a:ext cx="11511794" cy="4570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lang="en-US" sz="2500" b="1" i="0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Registration &amp; Auth: </a:t>
            </a:r>
            <a:r>
              <a:rPr lang="en-US" sz="2500" b="0" i="0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Students authenticate via Google/Email (verified .</a:t>
            </a:r>
            <a:r>
              <a:rPr lang="en-US" sz="2500" b="0" i="0" u="none" dirty="0" err="1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edu</a:t>
            </a:r>
            <a:r>
              <a:rPr lang="en-US" sz="2500" b="0" i="0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). Firebase stores user profiles.</a:t>
            </a: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lang="en-US" sz="2500" b="1" i="0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AI Candidate Analysis: </a:t>
            </a:r>
            <a:r>
              <a:rPr lang="en-US" sz="2500" b="0" i="0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Google Gemini 2.5 Flash processes applicant profiles against sponsor rules using JSON structured outputs.</a:t>
            </a: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lang="en-US" sz="2500" b="0" i="0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Stellar Escrow &amp; Swaps: Sponsor deposits XLM. Stellar DEX path payments automatically swap XLM to USDC.</a:t>
            </a: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lang="en-US" sz="2500" b="1" i="0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Instant USDC Settlement: </a:t>
            </a:r>
            <a:r>
              <a:rPr lang="en-US" sz="2500" b="0" i="0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Funds are disbursed instantly to the matched student's public address via Stellar </a:t>
            </a:r>
            <a:r>
              <a:rPr lang="en-US" sz="2500" b="0" i="0" u="none" dirty="0" err="1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Testnet</a:t>
            </a:r>
            <a:r>
              <a:rPr lang="en-US" sz="2500" b="0" i="0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. Transaction status is verified using </a:t>
            </a:r>
            <a:r>
              <a:rPr lang="en-US" sz="2500" b="0" i="0" u="none" dirty="0" err="1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Stellar.Expert</a:t>
            </a:r>
            <a:r>
              <a:rPr lang="en-US" sz="2500" b="0" i="0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dirty="0"/>
          </a:p>
        </p:txBody>
      </p:sp>
      <p:sp>
        <p:nvSpPr>
          <p:cNvPr id="125" name="Google Shape;125;p14"/>
          <p:cNvSpPr txBox="1"/>
          <p:nvPr/>
        </p:nvSpPr>
        <p:spPr>
          <a:xfrm>
            <a:off x="762000" y="952500"/>
            <a:ext cx="11049000" cy="196215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 rot="2700000">
            <a:off x="1075998" y="3528499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 rot="2700000">
            <a:off x="1075996" y="5022103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4"/>
          <p:cNvSpPr txBox="1"/>
          <p:nvPr/>
        </p:nvSpPr>
        <p:spPr>
          <a:xfrm>
            <a:off x="15670212" y="9096375"/>
            <a:ext cx="1570037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800"/>
              <a:buFont typeface="Anton"/>
              <a:buNone/>
            </a:pPr>
            <a:r>
              <a:rPr lang="en-US" sz="1800" b="0" i="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BUILD ON STELLAR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15670212" y="9353550"/>
            <a:ext cx="1570037" cy="134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800"/>
              <a:buFont typeface="Oswald"/>
              <a:buNone/>
            </a:pPr>
            <a:r>
              <a:rPr lang="en-US" sz="800" b="1" i="0" u="none">
                <a:solidFill>
                  <a:srgbClr val="3A352E"/>
                </a:solidFill>
                <a:latin typeface="Oswald"/>
                <a:ea typeface="Oswald"/>
                <a:cs typeface="Oswald"/>
                <a:sym typeface="Oswald"/>
              </a:rPr>
              <a:t>Hackathon · 2026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 rot="2700000">
            <a:off x="15060612" y="9077325"/>
            <a:ext cx="438150" cy="438150"/>
          </a:xfrm>
          <a:prstGeom prst="rect">
            <a:avLst/>
          </a:prstGeom>
          <a:solidFill>
            <a:srgbClr val="1A1815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4"/>
          <p:cNvSpPr txBox="1"/>
          <p:nvPr/>
        </p:nvSpPr>
        <p:spPr>
          <a:xfrm>
            <a:off x="1047750" y="1190625"/>
            <a:ext cx="3698875" cy="155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5507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6900"/>
              <a:buFont typeface="Anton"/>
              <a:buNone/>
            </a:pPr>
            <a:r>
              <a:rPr lang="en-US" sz="6900" b="0" i="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TECHNICAL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1047750" y="1944687"/>
            <a:ext cx="3698875" cy="15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5507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6900"/>
              <a:buFont typeface="Anton"/>
              <a:buNone/>
            </a:pPr>
            <a:r>
              <a:rPr lang="en-US" sz="6900" b="0" i="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WORKFLOW</a:t>
            </a:r>
            <a:endParaRPr/>
          </a:p>
        </p:txBody>
      </p:sp>
      <p:sp>
        <p:nvSpPr>
          <p:cNvPr id="2" name="Google Shape;127;p14">
            <a:extLst>
              <a:ext uri="{FF2B5EF4-FFF2-40B4-BE49-F238E27FC236}">
                <a16:creationId xmlns:a16="http://schemas.microsoft.com/office/drawing/2014/main" id="{DEB73238-5F28-22E4-8BE8-95406DD0CE34}"/>
              </a:ext>
            </a:extLst>
          </p:cNvPr>
          <p:cNvSpPr txBox="1"/>
          <p:nvPr/>
        </p:nvSpPr>
        <p:spPr>
          <a:xfrm rot="2700000">
            <a:off x="1075997" y="6524625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7E2D6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1563688" y="3654069"/>
            <a:ext cx="7580312" cy="2539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lang="en-US" sz="2500" b="0" i="0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Title: Roadmap &amp; Team</a:t>
            </a: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lang="en-US" sz="2500" b="0" i="0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Next Steps: Soroban smart contract deployment &amp; Passkey integration for </a:t>
            </a:r>
            <a:r>
              <a:rPr lang="en-US" sz="2500" b="0" i="0" u="none" dirty="0" err="1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passwordless</a:t>
            </a:r>
            <a:r>
              <a:rPr lang="en-US" sz="2500" b="0" i="0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 onboarding.</a:t>
            </a: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lang="en-US" sz="2500" b="0" i="0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Team: </a:t>
            </a:r>
            <a:r>
              <a:rPr lang="tr-TR" sz="2500" b="0" i="0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Abdüssamed Güldal</a:t>
            </a:r>
            <a:endParaRPr lang="en-US" sz="2500" b="0" i="0" u="none" dirty="0">
              <a:solidFill>
                <a:srgbClr val="1A1815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l" rtl="0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2500"/>
              <a:buFont typeface="Georgia"/>
              <a:buNone/>
            </a:pPr>
            <a:r>
              <a:rPr lang="en-US" sz="2500" b="0" i="0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Links: </a:t>
            </a:r>
            <a:r>
              <a:rPr lang="en-US" sz="2500" b="0" i="0" u="none" dirty="0" err="1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Github</a:t>
            </a:r>
            <a:r>
              <a:rPr lang="en-US" sz="2500" b="0" i="0" u="none" dirty="0">
                <a:solidFill>
                  <a:srgbClr val="1A1815"/>
                </a:solidFill>
                <a:latin typeface="Georgia"/>
                <a:ea typeface="Georgia"/>
                <a:cs typeface="Georgia"/>
                <a:sym typeface="Georgia"/>
              </a:rPr>
              <a:t> Repo | Live Demo URL</a:t>
            </a:r>
            <a:endParaRPr dirty="0"/>
          </a:p>
        </p:txBody>
      </p:sp>
      <p:sp>
        <p:nvSpPr>
          <p:cNvPr id="146" name="Google Shape;146;p15"/>
          <p:cNvSpPr txBox="1"/>
          <p:nvPr/>
        </p:nvSpPr>
        <p:spPr>
          <a:xfrm>
            <a:off x="762000" y="1431569"/>
            <a:ext cx="8001000" cy="150495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 rot="2700000">
            <a:off x="1104900" y="3811231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 rot="2700000">
            <a:off x="1104900" y="4441469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 rot="2700000">
            <a:off x="1121756" y="5373144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15670212" y="9096375"/>
            <a:ext cx="1570037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1800"/>
              <a:buFont typeface="Anton"/>
              <a:buNone/>
            </a:pPr>
            <a:r>
              <a:rPr lang="en-US" sz="1800" b="0" i="0" u="none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BUILD ON STELLAR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15670212" y="9353550"/>
            <a:ext cx="1570037" cy="134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3A352E"/>
              </a:buClr>
              <a:buSzPts val="800"/>
              <a:buFont typeface="Oswald"/>
              <a:buNone/>
            </a:pPr>
            <a:r>
              <a:rPr lang="en-US" sz="800" b="1" i="0" u="none">
                <a:solidFill>
                  <a:srgbClr val="3A352E"/>
                </a:solidFill>
                <a:latin typeface="Oswald"/>
                <a:ea typeface="Oswald"/>
                <a:cs typeface="Oswald"/>
                <a:sym typeface="Oswald"/>
              </a:rPr>
              <a:t>Hackathon · 2026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 rot="2700000">
            <a:off x="15060612" y="9077325"/>
            <a:ext cx="438150" cy="438150"/>
          </a:xfrm>
          <a:prstGeom prst="rect">
            <a:avLst/>
          </a:prstGeom>
          <a:solidFill>
            <a:srgbClr val="1A1815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 txBox="1"/>
          <p:nvPr/>
        </p:nvSpPr>
        <p:spPr>
          <a:xfrm>
            <a:off x="1047750" y="1660169"/>
            <a:ext cx="4360862" cy="19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6363"/>
              </a:lnSpc>
              <a:spcBef>
                <a:spcPts val="0"/>
              </a:spcBef>
              <a:spcAft>
                <a:spcPts val="0"/>
              </a:spcAft>
              <a:buClr>
                <a:srgbClr val="1A1815"/>
              </a:buClr>
              <a:buSzPts val="8800"/>
              <a:buFont typeface="Anton"/>
              <a:buNone/>
            </a:pPr>
            <a:r>
              <a:rPr lang="en-US" sz="8800" b="0" i="0" u="none" dirty="0">
                <a:solidFill>
                  <a:srgbClr val="1A1815"/>
                </a:solidFill>
                <a:latin typeface="Anton"/>
                <a:ea typeface="Anton"/>
                <a:cs typeface="Anton"/>
                <a:sym typeface="Anton"/>
              </a:rPr>
              <a:t>THE TEAM</a:t>
            </a:r>
            <a:endParaRPr dirty="0"/>
          </a:p>
        </p:txBody>
      </p:sp>
      <p:sp>
        <p:nvSpPr>
          <p:cNvPr id="2" name="Google Shape;149;p15">
            <a:extLst>
              <a:ext uri="{FF2B5EF4-FFF2-40B4-BE49-F238E27FC236}">
                <a16:creationId xmlns:a16="http://schemas.microsoft.com/office/drawing/2014/main" id="{5092E8AD-6E16-7F20-63D3-A46556081479}"/>
              </a:ext>
            </a:extLst>
          </p:cNvPr>
          <p:cNvSpPr txBox="1"/>
          <p:nvPr/>
        </p:nvSpPr>
        <p:spPr>
          <a:xfrm rot="2700000">
            <a:off x="1104899" y="5875169"/>
            <a:ext cx="152400" cy="152400"/>
          </a:xfrm>
          <a:prstGeom prst="rect">
            <a:avLst/>
          </a:prstGeom>
          <a:solidFill>
            <a:srgbClr val="DDA322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384</Words>
  <Application>Microsoft Office PowerPoint</Application>
  <PresentationFormat>Özel</PresentationFormat>
  <Paragraphs>43</Paragraphs>
  <Slides>5</Slides>
  <Notes>5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</vt:i4>
      </vt:variant>
    </vt:vector>
  </HeadingPairs>
  <TitlesOfParts>
    <vt:vector size="12" baseType="lpstr">
      <vt:lpstr>Arial</vt:lpstr>
      <vt:lpstr>Calibri</vt:lpstr>
      <vt:lpstr>Anton</vt:lpstr>
      <vt:lpstr>Oswald</vt:lpstr>
      <vt:lpstr>Georgia</vt:lpstr>
      <vt:lpstr>Geo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ABDÜSSAMED GÜLDAL</cp:lastModifiedBy>
  <cp:revision>6</cp:revision>
  <dcterms:modified xsi:type="dcterms:W3CDTF">2026-06-03T09:47:10Z</dcterms:modified>
</cp:coreProperties>
</file>